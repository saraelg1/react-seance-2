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6" r:id="rId30"/>
    <p:sldId id="287" r:id="rId31"/>
    <p:sldId id="290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EL-GUERYSY" userId="f137cb3346143788" providerId="LiveId" clId="{511B377B-F338-4169-87EE-BBEDEE5C3C6F}"/>
    <pc:docChg chg="custSel delSld modSld">
      <pc:chgData name="Sara EL-GUERYSY" userId="f137cb3346143788" providerId="LiveId" clId="{511B377B-F338-4169-87EE-BBEDEE5C3C6F}" dt="2026-10-20T19:46:41.399" v="137" actId="47"/>
      <pc:docMkLst>
        <pc:docMk/>
      </pc:docMkLst>
      <pc:sldChg chg="del">
        <pc:chgData name="Sara EL-GUERYSY" userId="f137cb3346143788" providerId="LiveId" clId="{511B377B-F338-4169-87EE-BBEDEE5C3C6F}" dt="2026-10-20T19:46:41.399" v="137" actId="47"/>
        <pc:sldMkLst>
          <pc:docMk/>
          <pc:sldMk cId="52557707" sldId="260"/>
        </pc:sldMkLst>
      </pc:sldChg>
      <pc:sldChg chg="delSp modSp mod">
        <pc:chgData name="Sara EL-GUERYSY" userId="f137cb3346143788" providerId="LiveId" clId="{511B377B-F338-4169-87EE-BBEDEE5C3C6F}" dt="2026-10-20T19:46:38.513" v="136" actId="478"/>
        <pc:sldMkLst>
          <pc:docMk/>
          <pc:sldMk cId="1098813694" sldId="261"/>
        </pc:sldMkLst>
        <pc:spChg chg="mod">
          <ac:chgData name="Sara EL-GUERYSY" userId="f137cb3346143788" providerId="LiveId" clId="{511B377B-F338-4169-87EE-BBEDEE5C3C6F}" dt="2026-10-20T19:45:31.907" v="34" actId="20577"/>
          <ac:spMkLst>
            <pc:docMk/>
            <pc:sldMk cId="1098813694" sldId="261"/>
            <ac:spMk id="3" creationId="{8CC2E62E-AF8A-444F-B975-F0FE9F86039C}"/>
          </ac:spMkLst>
        </pc:spChg>
        <pc:spChg chg="mod">
          <ac:chgData name="Sara EL-GUERYSY" userId="f137cb3346143788" providerId="LiveId" clId="{511B377B-F338-4169-87EE-BBEDEE5C3C6F}" dt="2026-10-20T19:46:30.998" v="135" actId="20577"/>
          <ac:spMkLst>
            <pc:docMk/>
            <pc:sldMk cId="1098813694" sldId="261"/>
            <ac:spMk id="4" creationId="{3FB6EDF1-D6EF-45BA-9F23-DB6C090492A8}"/>
          </ac:spMkLst>
        </pc:spChg>
        <pc:spChg chg="mod">
          <ac:chgData name="Sara EL-GUERYSY" userId="f137cb3346143788" providerId="LiveId" clId="{511B377B-F338-4169-87EE-BBEDEE5C3C6F}" dt="2026-10-20T19:46:02.871" v="88" actId="20577"/>
          <ac:spMkLst>
            <pc:docMk/>
            <pc:sldMk cId="1098813694" sldId="261"/>
            <ac:spMk id="5" creationId="{3686C18E-AB6F-4C3C-BBA0-C7ADB79EDAAD}"/>
          </ac:spMkLst>
        </pc:spChg>
        <pc:spChg chg="del">
          <ac:chgData name="Sara EL-GUERYSY" userId="f137cb3346143788" providerId="LiveId" clId="{511B377B-F338-4169-87EE-BBEDEE5C3C6F}" dt="2026-10-20T19:46:38.513" v="136" actId="478"/>
          <ac:spMkLst>
            <pc:docMk/>
            <pc:sldMk cId="1098813694" sldId="261"/>
            <ac:spMk id="7" creationId="{27B1EC98-C42F-44F8-95DD-19BD50873E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7578277-1785-4D56-A695-77C844401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693A4B3-99E7-4A7F-BF2C-50820897E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44B4DA6-90D9-4CDD-9FF2-F1932E0E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C7C8E8-F6E7-4629-B2D3-A78A6CA9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714CD3F-63BC-4E12-926C-3C257D78B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3C8CABD-BA27-4256-B61A-8366FF64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6FB0811-5B01-4549-AA5A-85818B394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4244FEB-65FF-4ABB-910B-B6E8BD8CCE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D27EBFC-7EA3-48E4-B1C6-032BBA58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DA60F90-190D-4AD1-AC55-EE4E1C543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9039C868-ED34-47F5-9345-891AAB051124}"/>
              </a:ext>
            </a:extLst>
          </p:cNvPr>
          <p:cNvSpPr>
            <a:spLocks noGrp="1"/>
          </p:cNvSpPr>
          <p:nvPr/>
        </p:nvSpPr>
        <p:spPr>
          <a:xfrm>
            <a:off x="723900" y="6858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DEFE2"/>
                </a:solidFill>
                <a:latin typeface="Arial"/>
                <a:ea typeface="Arial"/>
                <a:cs typeface="Arial"/>
              </a:rPr>
              <a:t>REACT · COURS DE SOUTIEN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E9C636A-82A3-4A81-8E91-777CE6D853EA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104775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Composants, props</a:t>
            </a:r>
          </a:p>
          <a:p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et listes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409B02F-3EEC-4581-9149-FDBD144DAE32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0096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Construire le catalogue de notre application de location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DD00360-A4E0-4D60-BE40-F1D92BD45E1B}"/>
              </a:ext>
            </a:extLst>
          </p:cNvPr>
          <p:cNvSpPr>
            <a:spLocks noGrp="1"/>
          </p:cNvSpPr>
          <p:nvPr/>
        </p:nvSpPr>
        <p:spPr>
          <a:xfrm>
            <a:off x="762000" y="592455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Séance 2 · 2 heures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C70FE4B-325D-430B-A119-95A378F4B006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541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3AE74CB0-12DF-49C7-8E2D-86C5DF0B56A7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76F8463-3209-43DE-8666-7D75E3B4F035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 catalogue à construire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E8889EC-1C79-4B67-850D-73CBBA9FE9DB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composant CarteLocal décrit une fiche réutilisable.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0F7892E-AEA2-4B6B-97C9-921539DEA314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Chaque fiche reçoit un local différent par les props.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5DD0E7F-056D-492F-99CE-F56D39D210C1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tableau permet d’afficher plusieurs locaux avec map.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087A464-FB26-41DB-82D8-37603D163B74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Une classe CSS distingue les disponibilités.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7898810-A16D-4FEE-8CB0-4CBBE0556E97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Travail en cinq binômes. Changer de personne au clavier après chaque exercice.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89825C2-1761-43C1-8EFD-6E3A0C31776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728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93355024-E7C6-4499-BE06-E117F0809A86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DIAGNOSTIC · SUR PAPIER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86B9443-0C91-4564-8D89-4DA3B84B5351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Rappel individuel de la séance 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C401A86-058F-4381-BFE0-1873E3894297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276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local = { nom: "Salle XYZ", disponible: false };</a:t>
            </a:r>
          </a:p>
          <a:p>
            <a:endParaRPr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&lt;h2&gt;{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local.nom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}&lt;/h2&gt;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&lt;p&gt;{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local.disponible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? "Libre" : "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Occupé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"}&lt;/p&gt;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9C29D7E-EEBC-4653-913B-E256F0880ABF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Quels textes apparaissent ?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ADD6281-AD37-4423-A16F-656E3FC757FD}"/>
              </a:ext>
            </a:extLst>
          </p:cNvPr>
          <p:cNvSpPr>
            <a:spLocks noGrp="1"/>
          </p:cNvSpPr>
          <p:nvPr/>
        </p:nvSpPr>
        <p:spPr>
          <a:xfrm>
            <a:off x="723900" y="395287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À quoi servent les accolades et le ternaire ?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A819A90-9A76-4C81-A748-8E2B397678F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9078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0D48C500-57F3-4005-A130-E7CDE29BE30D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8ECC473-D41A-45E0-AB0E-99D27980AB91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Rappel : réponses attendues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487AA4E-C168-42AA-AFF8-AE9C648322D9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navigateur affiche « Salle XYZ » puis « Occupé ».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3B922D6-FD5A-4AA5-9CFB-AFC1DDFA0F29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accolades permettent d’utiliser une expression JavaScript dans le JSX.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1E6D806-243B-46A0-98A6-F82C1CB4C459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ternaire choisit une valeur selon une condition.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384ED19-F7C3-4BDF-83CD-B09FC12E37DD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return renvoie le résultat de la fonction composant.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FBA8070-A313-4B27-8700-CD0633B5A0EB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7557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C8A4F083-67F1-4928-B63F-160DC5EFEFE3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PRATIQUE · 5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7DA50EE-117A-4FBC-95F8-F9F0DE0BC55C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1 : une fiche bien nommée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CC2E62E-AF8A-444F-B975-F0FE9F86039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lang="fr-FR" dirty="0"/>
              <a:t>Créer un fichier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CarteLocal.jsx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FB6EDF1-D6EF-45BA-9F23-DB6C090492A8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lang="fr-FR"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Créer une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fonction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CarteLocal</a:t>
            </a:r>
            <a:r>
              <a:rPr lang="fr-FR"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qui contient les inform</a:t>
            </a:r>
            <a:r>
              <a:rPr lang="fr-FR" dirty="0"/>
              <a:t>ations du local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686C18E-AB6F-4C3C-BBA0-C7ADB79EDAAD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lang="fr-FR" dirty="0"/>
              <a:t>Faire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l’import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dans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App.jsx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A535EB3-21B9-40AB-B21D-40F2A646F204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Vérifier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que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les deux fiches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s’affichent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toujours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6C29038-DE0A-4A7E-8C1D-918624B829A1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881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E46A3508-7BA6-4AAD-B936-402653E28836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40F9E47-AEC3-4CBA-BCB6-FC41A8678C7E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1 : import et utilisation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E6ADDB3-063F-4049-B5FC-342852B7C0AE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304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import CarteLocal from "./CarteLocal.jsx";</a:t>
            </a:r>
          </a:p>
          <a:p>
            <a:endParaRPr sz="1950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default function App() {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&lt;CarteLocal /&gt;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&lt;CarteLocal /&gt;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&lt;/&gt;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71F79FA-E7A9-438E-8A6B-2C6B7660DC29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819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7216366F-6C4E-4AD0-B2FC-D0022BC7A41E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93D6C93-1EBA-46C9-B039-08FE7A025F1A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Une prop transmet une donnée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7A3DA42-3CE8-4F49-BE72-D525DCFADEA0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2162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App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CarteLocal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nom="Salle XYZ"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capacite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={50} /&gt;</a:t>
            </a:r>
          </a:p>
          <a:p>
            <a:endParaRPr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CarteLocal.jsx</a:t>
            </a:r>
            <a:endParaRPr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default function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CarteLocal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(props) {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&lt;h2&gt;{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props.nom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}&lt;/h2&gt;;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1661860-E379-4A3F-A8EC-AB6F20132BED}"/>
              </a:ext>
            </a:extLst>
          </p:cNvPr>
          <p:cNvSpPr>
            <a:spLocks noGrp="1"/>
          </p:cNvSpPr>
          <p:nvPr/>
        </p:nvSpPr>
        <p:spPr>
          <a:xfrm>
            <a:off x="723900" y="421957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Une prop est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donnée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que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le parent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fournit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à son enfant.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Ici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, props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contient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nom et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capacite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C0CC4BF-43C2-452F-AF50-AE633F2BF867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props.nom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lit la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propriété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nom. Les guillemets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transmettent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du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texte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, {50}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transmet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un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nombre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1E6587B-E01C-4E00-A3BB-B26E3AA286C4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App est le parent. CarteLocal est l’enfant. Les props vont du parent vers l’enfant.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2C9F59B-8915-4533-AD32-CA3E913EA6F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883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7176E67-3A40-48C9-8BA5-AA2BCAD8CF27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PRATIQUE · 6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C66B5FE-B544-4C61-819C-0845062B2B56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2 : deux fiches différentes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1DCDD3A-825F-4116-B204-D6B6F432529B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Retirer l’import de local dans CarteLocal.jsx.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D61E4F0-D1F7-44D0-BA0E-05B16FF68EB2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Recevoir props et afficher props.nom et props.capacite.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702D6DB-1C26-4FC9-989A-F06C8C566BCD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Dans App, transmettre Salle XYZ / 50 puis Bureau Atlas / 8.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5172CDF-4D15-4CC6-A468-51B2F4B2564E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Vérifier que les deux fiches partagent le même JSX.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52925F3-2560-4189-B1E9-E5C0D03AF158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App choisit les valeurs. CarteLocal choisit comment les afficher.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89BEBC-D051-42BD-935D-25400E5ED938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7842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3D7B448F-E465-4237-A972-794F6B80840F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C5D809A-01A7-49EA-91C9-278F39DEE79A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2 : le composant enfant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218F26B-54AD-43C0-8ADF-DC95C1AB02D9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2457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default function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CarteLocal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(props) {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&lt;article&gt;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&lt;h2&gt;{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props.nom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}&lt;/h2&gt;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&lt;p&gt;{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props.capacite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personnes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&lt;/p&gt;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&lt;/article&gt;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A40ACA-777B-4754-A8E2-D55DD26202A0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Dans App : &lt;CarteLocal nom="Bureau Atlas" capacite={8} /&gt;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B9A35D0-09FB-49EB-8AB7-2FA1485CCEE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149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D6A6343A-5E3B-4681-A2E6-F5895C6BDA60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D66B3B9-8574-4717-9D98-8696DEA4EAC2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La déstructuration des props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22786AD-9564-4C7F-8E8F-D38609D25C98}"/>
              </a:ext>
            </a:extLst>
          </p:cNvPr>
          <p:cNvSpPr>
            <a:spLocks noGrp="1"/>
          </p:cNvSpPr>
          <p:nvPr/>
        </p:nvSpPr>
        <p:spPr>
          <a:xfrm>
            <a:off x="723899" y="1781175"/>
            <a:ext cx="4723171" cy="2867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Avec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l’objet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props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function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CarteLocal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(props) {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</a:t>
            </a:r>
            <a:r>
              <a:rPr lang="fr-FR" dirty="0"/>
              <a:t>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fr-FR" dirty="0"/>
              <a:t>	&lt;&gt;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fr-FR"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		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&lt;h2&gt;{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props.nom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}&lt;/h2&gt;</a:t>
            </a:r>
            <a:endParaRPr lang="fr-FR"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fr-FR" dirty="0"/>
              <a:t>		</a:t>
            </a:r>
            <a:r>
              <a:rPr lang="fr-FR"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&lt;h2&gt;{</a:t>
            </a:r>
            <a:r>
              <a:rPr lang="fr-FR"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props.disponible</a:t>
            </a:r>
            <a:r>
              <a:rPr lang="fr-FR"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}&lt;/h2&gt;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fr-FR" dirty="0"/>
              <a:t>	&lt;/&gt;</a:t>
            </a:r>
            <a:endParaRPr lang="fr-FR"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fr-FR"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  <a:endParaRPr lang="fr-FR"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38D3BC-BCCE-4E95-B2D6-44245C664DA2}"/>
              </a:ext>
            </a:extLst>
          </p:cNvPr>
          <p:cNvSpPr>
            <a:spLocks noGrp="1"/>
          </p:cNvSpPr>
          <p:nvPr/>
        </p:nvSpPr>
        <p:spPr>
          <a:xfrm>
            <a:off x="685800" y="5605462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19A29F9-747C-448E-B6B5-B10CF9E96E19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Ce sont deux écritures possibles du même composant : on en choisit une dans le fichier.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BD88CCB-9C31-4FBE-8701-62918B9C48A8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EF4981D-E296-CFED-DD02-AEA95E04E041}"/>
              </a:ext>
            </a:extLst>
          </p:cNvPr>
          <p:cNvSpPr>
            <a:spLocks noGrp="1"/>
          </p:cNvSpPr>
          <p:nvPr/>
        </p:nvSpPr>
        <p:spPr>
          <a:xfrm>
            <a:off x="6567955" y="1781175"/>
            <a:ext cx="5565056" cy="2867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fr-FR" sz="2000" b="0" kern="1200" dirty="0">
                <a:solidFill>
                  <a:srgbClr val="087F75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 Avec la déstructuration</a:t>
            </a:r>
            <a:endParaRPr lang="fr-FR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fr-FR" sz="2000" b="0" kern="1200" dirty="0" err="1">
                <a:solidFill>
                  <a:srgbClr val="087F75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fr-FR" sz="2000" b="0" kern="1200" dirty="0">
                <a:solidFill>
                  <a:srgbClr val="087F75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000" b="0" kern="1200" dirty="0" err="1">
                <a:solidFill>
                  <a:srgbClr val="087F75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CarteLocal</a:t>
            </a:r>
            <a:r>
              <a:rPr lang="fr-FR" sz="2000" b="0" kern="1200" dirty="0">
                <a:solidFill>
                  <a:srgbClr val="087F75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({ nom, </a:t>
            </a:r>
            <a:r>
              <a:rPr lang="fr-FR" sz="200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disponible</a:t>
            </a:r>
            <a:r>
              <a:rPr lang="fr-FR" sz="2000" b="0" kern="1200" dirty="0">
                <a:solidFill>
                  <a:srgbClr val="087F75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}) </a:t>
            </a: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fr-FR" sz="2000" b="0" kern="1200" dirty="0">
                <a:solidFill>
                  <a:srgbClr val="087F75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fr-FR" dirty="0">
              <a:effectLst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fr-FR" sz="2000" b="0" kern="1200" dirty="0">
                <a:solidFill>
                  <a:srgbClr val="087F75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return </a:t>
            </a:r>
            <a:r>
              <a:rPr lang="pt-BR" dirty="0"/>
              <a:t>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pt-BR" dirty="0"/>
              <a:t>	&lt;&gt;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pt-BR"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		&lt;h2&gt;{nom}&lt;/h2&gt;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pt-BR" dirty="0"/>
              <a:t>		</a:t>
            </a:r>
            <a:r>
              <a:rPr lang="pt-BR"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&lt;h2&gt;{</a:t>
            </a:r>
            <a:r>
              <a:rPr lang="fr-FR" sz="180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disponible</a:t>
            </a:r>
            <a:r>
              <a:rPr lang="pt-BR"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}&lt;/h2&gt;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pt-BR" dirty="0"/>
              <a:t>	&lt;/&gt;</a:t>
            </a:r>
            <a:endParaRPr lang="pt-BR"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lang="pt-BR"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);</a:t>
            </a:r>
            <a:endParaRPr lang="fr-FR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fr-FR" sz="2000" b="0" kern="1200" dirty="0">
                <a:solidFill>
                  <a:srgbClr val="087F75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effectLst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endParaRPr lang="fr-FR"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endParaRPr lang="fr-FR"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5643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FF065DB7-E3E7-4109-86AC-D70A079A6A8A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PRATIQUE · 5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436438D-CBED-4E4E-8028-B208E49DB286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3 : un objet en prop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86352A4-CDE5-4C5E-9621-D7EA223C42E2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1571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App.jsx : réutiliser le fichier local.js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import { local } from "./local.js";</a:t>
            </a:r>
          </a:p>
          <a:p>
            <a:endParaRPr sz="1950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le JSX de App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&lt;CarteLocal local={local} /&gt;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787E5D0-1D62-4331-B6DB-59DF81C7DAD5}"/>
              </a:ext>
            </a:extLst>
          </p:cNvPr>
          <p:cNvSpPr>
            <a:spLocks noGrp="1"/>
          </p:cNvSpPr>
          <p:nvPr/>
        </p:nvSpPr>
        <p:spPr>
          <a:xfrm>
            <a:off x="8439150" y="1933575"/>
            <a:ext cx="30480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Dans CarteLocal :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Recevoir { local }.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Afficher son nom et sa capacité.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3. Restaurer le statut conditionnel.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DD1A192-B237-4EF6-A5B7-50B2805B05D8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49076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5E6AF7F5-3D6E-4D5F-90D2-FEDEC075D091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A6F4D47-645C-42BF-A70F-752F2493F56C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3 : la fiche reçoit un local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602BF1A-0E1F-4E59-BCD3-DC98BFC7FE65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304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default function CarteLocal({ local }) {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&lt;article&gt;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&lt;h2&gt;{local.nom}&lt;/h2&gt;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&lt;p&gt;{local.capacite} personnes&lt;/p&gt;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&lt;p&gt;{local.disponible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  ? "Disponible" : "Indisponible"}&lt;/p&gt;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&lt;/article&gt;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54622F4-857E-41F9-AB03-5F883838CA4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73808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586DC7DD-4787-497F-BB9F-97B572C88688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877A0AB-7F3F-4344-83FE-93D159FD6E0C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props se lisent sans les modifier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2A2B383-1473-4A52-AA73-089D557A0E5A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571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À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éviter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dans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CarteLocal</a:t>
            </a:r>
            <a:endParaRPr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local.prixHeure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= 0;</a:t>
            </a:r>
          </a:p>
          <a:p>
            <a:endParaRPr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Correct :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calculer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une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valeur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dérivée</a:t>
            </a:r>
            <a:endParaRPr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total =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local.prixHeure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* 3;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9894F8D-56D4-48A3-A3CA-CF3908C7BC99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L’enfant doit traiter les props comme des données en lecture seule, y compris les objets reçus.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345EAC7-38A5-47CF-9BB0-F0E525CFA001}"/>
              </a:ext>
            </a:extLst>
          </p:cNvPr>
          <p:cNvSpPr>
            <a:spLocks noGrp="1"/>
          </p:cNvSpPr>
          <p:nvPr/>
        </p:nvSpPr>
        <p:spPr>
          <a:xfrm>
            <a:off x="723900" y="424815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calcul crée une valeur dérivée sans modifier les données. Le parent peut ensuite fournir de nouvelles props.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959339C-143F-4F56-8BAD-8122C6535B4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23938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37435FF1-D908-4E5E-9826-72671586D1F6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Pause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595F8BC-F02A-4CB2-BC95-BF43DBC178D1}"/>
              </a:ext>
            </a:extLst>
          </p:cNvPr>
          <p:cNvSpPr>
            <a:spLocks noGrp="1"/>
          </p:cNvSpPr>
          <p:nvPr/>
        </p:nvSpPr>
        <p:spPr>
          <a:xfrm>
            <a:off x="800100" y="31242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5 minutes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8937AB7-D719-4A48-ACD1-BCA69A342E4D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À la reprise : afficher un tableau de locaux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0B06229-1A00-4AAB-AB76-1B38405AF26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55172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B601EDD7-8184-426F-8331-112EEDCD5F70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9421915-6A97-47F7-A558-F6261871EA45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 tableau contient plusieurs locaux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DCAC960-4F51-44E1-A52F-7D92EED626B7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571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const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locaux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= [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{ id: 1, nom: "Salle XYZ",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capacite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: 50 },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{ id: 2, nom: "Bureau Atlas",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capacite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: 8 },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{ id: 3, nom: "Salle Horizon",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capacite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: 20 }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];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8685607-B17F-4762-8095-4C468A7E794E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tableau regroupe des éléments ordonnés. locaux[0] lit le premier objet, locaux[1] le deuxième.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CC6CA43-0437-4C6A-ABE1-42C3967F9F62}"/>
              </a:ext>
            </a:extLst>
          </p:cNvPr>
          <p:cNvSpPr>
            <a:spLocks noGrp="1"/>
          </p:cNvSpPr>
          <p:nvPr/>
        </p:nvSpPr>
        <p:spPr>
          <a:xfrm>
            <a:off x="723900" y="424815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locaux[1].nom vaut "Bureau Atlas". locaux.length donne le nombre d’éléments : ici, 3.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D0CBD87-CA41-450C-9D85-3E6E79E5939C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Le fichier fourni contient aussi prixHeure et disponible pour chaque local.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9B60613-F493-40D6-B5E8-B0747BFDED2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73447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AEA607F5-EBB0-4AD2-BCD1-FD173FC91BB3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7951950-B7DF-4C0A-A5C2-4C44707A31F0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map </a:t>
            </a:r>
            <a:r>
              <a:rPr sz="3225" b="1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transforme</a:t>
            </a: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chaque</a:t>
            </a: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élément</a:t>
            </a:r>
            <a:endParaRPr sz="3225" b="1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DD22492-A46F-4943-A7C5-C60E6CE5C28A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571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nombres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= [1, 2, 3];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doubles =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nombres.map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(n =&gt; n * 2);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doubles : [2, 4, 6]</a:t>
            </a:r>
          </a:p>
          <a:p>
            <a:endParaRPr sz="1950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noms =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locaux.map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(local =&gt;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local.nom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B80B702-6C94-461D-AC95-F3B8C2897CC1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n =&gt; n * 2 est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fonction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fléchée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: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elle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reçoit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n et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renvoie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son double pour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chaque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élément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5F441AA-FAFD-4B21-BF9A-6CB01BC1351D}"/>
              </a:ext>
            </a:extLst>
          </p:cNvPr>
          <p:cNvSpPr>
            <a:spLocks noGrp="1"/>
          </p:cNvSpPr>
          <p:nvPr/>
        </p:nvSpPr>
        <p:spPr>
          <a:xfrm>
            <a:off x="723900" y="424815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map retourne un nouveau tableau de résultats dans le même ordre. Ici, nombres reste [1, 2, 3].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A53DBFF-31C9-420E-AF2F-B7AA0405EB7D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Dans locaux.map(local =&gt; local.nom), local désigne successivement chaque objet du tableau.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3298141-2AB8-48F8-AD3B-801DC8BA7F8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73182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89416744-490C-41DF-97A5-2E7D668DB750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PRATIQUE JAVASCRIPT · 5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C71A0F3-18B4-4E54-8D10-E76511D2ECD2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4 : transformer les données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4C06F42-FFDA-431A-BDE8-F65464123D6D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Créer noms avec le nom de chaque local.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FE20F81-0077-4DBD-8F02-892A171C9E75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Créer tarifs3h avec le prix de 3 heures pour chaque local.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8B97295-EC62-4CDC-83DB-C0E38DEFEE35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 les deux tableaux dans la console.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586E54C-FCDA-4043-B8E9-0BAA5016BE1C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Tarifs fournis : 150, 80 et 200 DH / h. Résultats attendus : 450, 240 et 600 DH.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8EDB4AE-2BAF-4537-A24F-7C546B25874B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81971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5557B7F3-2318-4EA4-84EE-8DE288219143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A6D6FCC-77DF-476D-91DA-CC9622DBB920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4 : les tableaux produits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1FC688B-8967-43D8-9706-37202235DB4B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2162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noms = locaux.map(local =&gt; local.nom);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["Salle XYZ", "Bureau Atlas", "Salle Horizon"]</a:t>
            </a:r>
          </a:p>
          <a:p>
            <a:endParaRPr sz="1950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tarifs3h = locaux.map(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local =&gt; local.prixHeure * 3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[450, 240, 600]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0115FDE-8122-49DA-85AC-EA1B1CC35A21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76902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4F98BAE3-8F41-4BBC-B133-01A98B9C6CD0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9631FE0-FD8A-4E45-945E-2236AA580A4F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map peut produire des composants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DB217EF-7B50-447E-A539-3AF9B91C0CE6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866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&lt;main&gt;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&lt;h1&gt;Nos 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locaux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&lt;/h1&gt;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{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locaux.map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(local =&gt; 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</a:t>
            </a:r>
            <a:r>
              <a:rPr sz="1950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CarteLocal</a:t>
            </a: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key={local.id} local={local} /&gt;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))}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&lt;/main&gt;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C1D47AE-905B-4A13-8594-9BC4F53328FA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Pour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chaque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objet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local, map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retourne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un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élément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CarteLocal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et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lui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transmet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cet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objet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en</a:t>
            </a:r>
            <a:r>
              <a:rPr sz="180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prop.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40DCE91-EA3D-49A3-9B60-C8ADE88E5357}"/>
              </a:ext>
            </a:extLst>
          </p:cNvPr>
          <p:cNvSpPr>
            <a:spLocks noGrp="1"/>
          </p:cNvSpPr>
          <p:nvPr/>
        </p:nvSpPr>
        <p:spPr>
          <a:xfrm>
            <a:off x="723900" y="454342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Avec =&gt; (...), le retour est implicite. Avec =&gt; { ... }, il faut écrire return dans le bloc.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FB65765-83BC-4822-9113-5FFB4C214D36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Une nouvelle donnée dans locaux produit une nouvelle fiche, sans recopier le JSX du composant.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FB75350-F284-4561-AFA1-01D632CCB58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6010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46E8037C-4624-447D-A351-7D8BEE696AF0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66BB525-5E90-410B-A253-A2C267B2456E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key identifie un élément de la liste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F7BE657-2864-4C27-9354-EB4DC2D9FA21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key aide React à reconnaître un élément lors d’un ajout, d’une suppression ou d’un changement d’ordre.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3ADCAF7-921E-46ED-A322-6BB7B4B6F4A3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Placer une key stable et unique parmi les éléments frères sur le composant directement retourné par map.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68E6240-1AEC-425D-A221-25C22558AC7C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Utiliser local.id. Une clé aléatoire change à chaque rendu et un index peut désigner un autre élément après un tri.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31FDABC-5CCC-42EE-8FF8-93FDFF385819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key est réservée à React. Pour lire l’identifiant dans CarteLocal, utiliser local.id transmis dans la prop local.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9FD0432-7C40-4917-A285-2E492027EB9A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Une key identifie un élément. Elle ne trie pas la liste et ne remplace pas les props métier.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0706819-DA1C-4B2D-9456-6A59EFBA1EA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54260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B91776A1-A5A9-49D0-B671-A97F684A9F0E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PRATIQUE · 5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0792E78-E95E-4399-986C-D70424C77DF2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5 : le catalogue automatique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2D4E0D0-DC74-468C-B6D5-DCF5938D9122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Importer locaux depuis locaux.js dans App.jsx.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0A07BEC-3493-4C05-8025-98F94B8A9328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Remplacer les appels manuels par un seul map.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7A6A591-9443-4D23-93ED-0E6DB0A7E145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Transmettre local et placer key sur CarteLocal.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642D1FF-5F95-441B-AAD2-EB8163889C9A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Vérifier les trois noms et les trois capacités.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7BAD45B-5E65-4DC8-A717-8A2CF977608D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Réussite : ajouter un objet au tableau ajoute une fiche sans recopier de JSX.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FACBB87-1455-409F-A7AE-FB695E69C104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46431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02829AE4-A46A-44F4-921E-2535C728B335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17EE39F-F58B-4120-8071-AF87EFF1A2D9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5 : App affiche la liste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3232DAD-8E1B-4045-926D-9632A95DBF36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3933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import CarteLocal from "./CarteLocal.jsx";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import { locaux } from "./locaux.js";</a:t>
            </a:r>
          </a:p>
          <a:p>
            <a:endParaRPr sz="1950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default function App() {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&lt;main&gt;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&lt;h1&gt;Nos locaux&lt;/h1&gt;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{locaux.map(local =&gt; 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  &lt;CarteLocal key={local.id} local={local} /&gt;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))}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&lt;/main&gt;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541E5BE-BBB0-4414-8D67-182D2D754CB6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41566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9D1516A4-8F40-4103-8E2E-A57D49B2CECF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311D05C-684D-411B-890F-77843246A0C1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CSS et classe conditionnelle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036DE03-D922-4AFE-A0D8-5FF372273B35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866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CarteLocal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classe = local.disponible ? "libre" : "occupe";</a:t>
            </a:r>
          </a:p>
          <a:p>
            <a:endParaRPr sz="1950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&lt;p className={classe}&gt;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{local.disponible ? "Disponible" : "Indisponible"}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&lt;/p&gt;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547E96A-DE2A-4DCE-91AF-F104334D03F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className reçoit un nom de classe. Le CSS correspondant doit être importé, ici dans main.jsx.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A52AADF-E10A-4CAE-8B44-8AEF0C8FD795}"/>
              </a:ext>
            </a:extLst>
          </p:cNvPr>
          <p:cNvSpPr>
            <a:spLocks noGrp="1"/>
          </p:cNvSpPr>
          <p:nvPr/>
        </p:nvSpPr>
        <p:spPr>
          <a:xfrm>
            <a:off x="723900" y="454342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ternaire choisit libre ou occupe selon disponible. Le texte précise aussi le statut.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7246B19-1B42-46E3-92B7-9F6180DB94F5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CSS : .libre { color: #087f75; }    .occupe { color: #a13d2d; }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9888F21-A7E2-4404-A4FD-72E291EA244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27689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27D88E6D-9F3F-4EFE-9ECD-A0581611A119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PRATIQUE · 4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D03E861-B44E-4826-88D4-DEB8207B7B89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6 : un statut lisible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FF3FDCD-C438-4D15-B2C9-69E8CE064249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Ajouter className="carte" à article.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B0E86F7-FCC0-41D2-8B93-D98685C59C59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Calculer la classe libre ou occupe dans CarteLocal.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C5FC62C-6EE1-49C6-A357-AD8BB97B286E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Appliquer cette classe au paragraphe du statut.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BA4B1AB-B56A-4CBA-AD4A-4F6D2C59DC92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Vérifier les deux statuts et leur couleur.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13A8BD3-B742-4E7D-8296-3690F6EF2EAD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Salle XYZ : Indisponible. Bureau Atlas et Salle Horizon : Disponible.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1820AE4-3E04-44BA-8E3C-B2C8B995581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488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BA288ED1-27FD-4562-BE6A-723227BB63FD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4105284-F253-49E3-A2CC-AC5A8E5FC30C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Exercice 6 : les classes appliquées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99B3B7B-F96E-4C10-8117-8058D23EBFE1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304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classe = local.disponible ? "libre" : "occupe";</a:t>
            </a:r>
          </a:p>
          <a:p>
            <a:endParaRPr sz="1950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return 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&lt;article className="carte"&gt;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&lt;h2&gt;{local.nom}&lt;/h2&gt;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&lt;p className={classe}&gt;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{local.disponible ? "Disponible" : "Indisponible"}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&lt;/p&gt;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&lt;/article&gt;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4F12CA5-5A55-4893-A2C2-AB6AB6E2591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98552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3F3B71B6-E9B4-4CA2-9205-DBF2AB9F5CA2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ATELIER · 13 MIN · EN BINÔME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D3E87C1-58C4-46A1-8313-0D379773CC0F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TP : le catalogue de location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FD0E840-017E-45DF-9E25-9ED78D324A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 les trois locaux avec map et une key stable.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736E71C-DA35-4D47-8D32-69F0A16F1ED8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Dans chaque fiche : nom, capacité, tarif horaire et statut.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8A48839-8878-498C-98DE-5E4F57A2BB6E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 le prix pour 3 h avec calculerPrix.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E20C146-E28C-4F84-AA78-6C5C4EA01C42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Appliquer carte, libre et occupe.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C6943A4-4F94-4E15-9EFA-E3DC07C83875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Ajouter un quatrième local et vérifier le résultat.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54396AC-C93F-437B-B013-31215DC3ECB4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Fichiers : App.jsx, CarteLocal.jsx et locaux.js. Le calcul et le CSS sont fournis.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D5ACC7D-ABC8-4F11-8C4D-F6A7DE43AC51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18620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0E8ACC6F-726A-49E0-B6E8-431794B3FBF0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VÉRIFICATION CROISÉE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1C602A1-CA6C-4DAA-ACED-B5017A5715E2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Vérification du TP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F762FCE-6247-4457-A983-9473E6AF70E2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XYZ : 50 personnes, 150 DH / h, 450 DH pour 3 h, indisponible.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15DD9F9-8C40-443D-AE56-DBA0C8B28A8D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Atlas : 8 personnes, 80 DH / h, 240 DH pour 3 h, disponible.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66A8406-36F7-4582-8708-6B630272F20A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Horizon : 20 personnes, 200 DH / h, 600 DH pour 3 h, disponible.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09946BF-9B90-402D-8755-911275F500DB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nouvel objet avec un id inédit produit une nouvelle fiche.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AD95337-F94B-4322-B87B-C81EF5C0B02C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Le partenaire explique les props, map et key sans lire ses notes.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1F48503-DF42-4D0D-8B64-0E27F45CE11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43747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E1EF74B8-0058-4BBE-B880-27299D5F7D6E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SUR PAPIER · 8 MIN · SUR 10 POINTS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2DB6939-3968-4E29-975D-D458C566FA54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Mini-contrôle individuel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F9A9EE7-3564-449A-B907-041E34848FE2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Définir un composant réutilisable. (2 pts)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BAD56BD-982D-4305-BEB0-991F655B3F9F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Expliquer les props et le sens de transmission. (2 pts)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5D2C994-2211-4ADD-BCFF-776032C6B6C8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3. Écrire un map qui affiche CarteLocal pour chaque local, avec une key adaptée. (3 pts)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2AE52B0-BA3B-4B7A-8A7A-5F2715FDF0EE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4. Expliquer le rôle de key. (1 pt)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A848192-4557-43DD-81EE-2199A486FCAD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5. Pourquoi CarteLocal ne doit-il pas modifier local.prixHeure reçu en prop ? (2 pts)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D69DC27-B89D-4580-962A-7BA852518B9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20544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CAEE0D1B-0628-4146-A359-6860569D0042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8599B2F-7FEF-47A8-A1A7-940A9E0E5C8E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Mini-contrôle : réponses attendues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BA47C0-A9AC-41E4-8802-E35CA2AE4A80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981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{locaux.map(local =&gt; 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&lt;CarteLocal key={local.id} local={local} /&gt;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))}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953D218-F31E-45CD-8FB5-3658A9EA96C4}"/>
              </a:ext>
            </a:extLst>
          </p:cNvPr>
          <p:cNvSpPr>
            <a:spLocks noGrp="1"/>
          </p:cNvSpPr>
          <p:nvPr/>
        </p:nvSpPr>
        <p:spPr>
          <a:xfrm>
            <a:off x="723900" y="303847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Une partie de l’interface définie une fois et utilisable plusieurs fois.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83B0C9C-07BC-42BB-B5C4-10EC7890E26C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Des données reçues du parent par l’enfant.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9168A6-880B-4599-A95F-AD2F7D28BB9F}"/>
              </a:ext>
            </a:extLst>
          </p:cNvPr>
          <p:cNvSpPr>
            <a:spLocks noGrp="1"/>
          </p:cNvSpPr>
          <p:nvPr/>
        </p:nvSpPr>
        <p:spPr>
          <a:xfrm>
            <a:off x="723900" y="427672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4. Une identité stable pour suivre les éléments de la liste.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70A2900-691F-4091-92BE-1A64EAB23268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5. Les props sont en lecture seule pour le composant qui les reçoit.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F9842FB-5EFD-4A89-9FA4-0B10E0D4BF0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81730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DF3ECCB1-7D34-4210-85C2-AE90491A6179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E7AB193-71D1-42D5-9514-1F1F603E8E76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Avant la séance 3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1920797-8F5D-4159-BD6A-D487EF1D222F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Recréer une petite fiche qui reçoit un objet en prop.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7FE46A3-56A6-4338-8988-6BD4CEEEB2D8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Ajouter deux locaux en gardant des identifiants distincts.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05A12BF-F4EB-4A18-8810-28483EB53D4C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Expliquer map et key en une phrase chacun.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ABFB0A0-3C04-4488-BFB2-AB281F8E7911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Prochaine étape : réagir à un clic avec les événements et l’état.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1344874-A776-4AF9-BED3-6BCB37FDD17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714140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083AC3FA-D9E5-49E5-AAE7-271F40C2838C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6060F66-C9F9-477F-9314-84A80FDF54C0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À retenir : les données et l’affichage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64E8AEF-90BB-47E3-B2F2-38E5C6688372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composant décrit une partie réutilisable de l’interface et retourne du JSX.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087DA8A-E016-410B-8947-51923DA575E0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props transmettent les données du parent vers l’enfant, qui les lit sans les modifier.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2B4B435-7D0D-413E-8B6D-E7D7D094685C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map transforme le tableau de locaux en un tableau d’éléments React.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6BBEAB7-A903-40D7-AC83-815B0EDFFB75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key donne une identité stable à chaque élément de la liste.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D327EF0-69AE-4534-B3E4-BF8270840E17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className relie le JSX aux règles de la feuille CSS.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2B6711B-2D20-4003-9532-D47B14A25E04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2113764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2289</Words>
  <Application>Microsoft Office PowerPoint</Application>
  <DocSecurity>0</DocSecurity>
  <PresentationFormat>Grand écran</PresentationFormat>
  <Paragraphs>314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Aptos</vt:lpstr>
      <vt:lpstr>Arial</vt:lpstr>
      <vt:lpstr>Consolas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Sara EL-GUERYSY</cp:lastModifiedBy>
  <cp:revision>8</cp:revision>
  <dcterms:created xsi:type="dcterms:W3CDTF">2026-10-19T07:29:17Z</dcterms:created>
  <dcterms:modified xsi:type="dcterms:W3CDTF">2026-10-20T22:20:31Z</dcterms:modified>
</cp:coreProperties>
</file>